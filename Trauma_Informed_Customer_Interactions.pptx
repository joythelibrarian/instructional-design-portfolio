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4572000" cy="4572000"/>
          </a:xfrm>
          <a:prstGeom prst="ellipse">
            <a:avLst/>
          </a:prstGeom>
          <a:solidFill>
            <a:srgbClr val="84B59F">
              <a:alpha val="20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-1097280"/>
            <a:ext cx="3108960" cy="3108960"/>
          </a:xfrm>
          <a:prstGeom prst="ellipse">
            <a:avLst/>
          </a:prstGeom>
          <a:solidFill>
            <a:srgbClr val="5A8B75">
              <a:alpha val="30000"/>
            </a:srgbClr>
          </a:solidFill>
          <a:ln w="12700">
            <a:solidFill>
              <a:srgbClr val="5A8B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CASE STUDY  •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Trauma-Informed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</a:t>
            </a:r>
            <a:pPr indent="0" marL="0">
              <a:buNone/>
            </a:pPr>
            <a:r>
              <a:rPr lang="en-US" sz="60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Self-Paced eLearning Prototype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526280"/>
            <a:ext cx="1371600" cy="36576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Kim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5029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Designer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5029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TIME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 minutes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kim — instructional design portfolio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02 / PROJECT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Snapshot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overview for stakeholders and hiring managers.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651760"/>
            <a:ext cx="2011680" cy="73152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Self-paced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eLearning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754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SCORM-compliant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26517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0360" y="2651760"/>
            <a:ext cx="2011680" cy="73152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3291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Customer-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facing employees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63240" y="4754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Frontline, support, intake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26517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2651760"/>
            <a:ext cx="2011680" cy="73152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3291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35–45 min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7800" y="4754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26517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69480" y="2651760"/>
            <a:ext cx="2011680" cy="73152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52360" y="3291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Storyline 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Rise / Vyond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4754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Figma for design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64040" y="26517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64040" y="2651760"/>
            <a:ext cx="2011680" cy="73152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46920" y="3291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WCAG 2.1 AA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46920" y="4754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from start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Customer Interactions  •  Joy Kim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03 / LEARNING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end, learners will be </a:t>
            </a:r>
            <a:pPr indent="0" marL="0">
              <a:buNone/>
            </a:pPr>
            <a:r>
              <a:rPr lang="en-US" sz="38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able to</a:t>
            </a:r>
            <a:pPr indent="0" marL="0">
              <a:buNone/>
            </a:pPr>
            <a:r>
              <a:rPr lang="en-US" sz="3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822960" cy="82296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8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cues that may indicate a trauma or stress response in customer interactions.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886200"/>
            <a:ext cx="822960" cy="82296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8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SAMHSA trauma-informed principles to common workplace scenarios.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822960" cy="82296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8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5486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de-escalation process (Pause → Listen → Validate → Offer Options → Collaborate) in branching scenario practice.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written to Bloom's action verbs and measurable through embedded assessments.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04 / EVALUATION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at all four Kirkpatrick levels.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548640" cy="18288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Post-module survey (3 questions)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356616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566160" y="4572000"/>
            <a:ext cx="548640" cy="18288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checks + Module 5 scenario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468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640080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0" y="4572000"/>
            <a:ext cx="548640" cy="18288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follow-up via commitment card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24688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0" dirty="0"/>
          </a:p>
        </p:txBody>
      </p:sp>
      <p:sp>
        <p:nvSpPr>
          <p:cNvPr id="24" name="Text 22"/>
          <p:cNvSpPr/>
          <p:nvPr/>
        </p:nvSpPr>
        <p:spPr>
          <a:xfrm>
            <a:off x="923544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235440" y="4572000"/>
            <a:ext cx="548640" cy="18288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escalations, improved CSAT (future metric)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Customer Interactions  •  Joy Kim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05 / COURSE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modules, scaffolded toward applied practice.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73152" cy="6400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+ relevance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0" y="2286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6400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17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Recognizing Trauma Responses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0" y="3017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49040"/>
            <a:ext cx="73152" cy="6400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Principles in 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SAMHSA framework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32720" y="3749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48056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480560"/>
            <a:ext cx="73152" cy="6400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28800" y="4480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Empathetic Communication Lab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480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practice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0" y="4480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212080"/>
            <a:ext cx="73152" cy="640080"/>
          </a:xfrm>
          <a:prstGeom prst="rect">
            <a:avLst/>
          </a:prstGeom>
          <a:solidFill>
            <a:srgbClr val="C97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212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2880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De-Escalation Branching Scenario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Centerpiece application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212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943600"/>
            <a:ext cx="73152" cy="6400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943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828800" y="5943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&amp; Continue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0880" y="5943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transfer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32720" y="5943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06 / WHY THIS REDESIGN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live workshop to scalable async — without losing the soul.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303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377440"/>
            <a:ext cx="73152" cy="3840480"/>
          </a:xfrm>
          <a:prstGeom prst="rect">
            <a:avLst/>
          </a:prstGeom>
          <a:solidFill>
            <a:srgbClr val="C97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wasn't working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workshop relied on live role-play.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 across shifts and locations.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content required psychological safety guardrails.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delivery wasn't sustainable for hundreds of frontline employees.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377440"/>
            <a:ext cx="5303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377440"/>
            <a:ext cx="73152" cy="38404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changed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scenarios replace live role-play.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SAMHSA principles moved forward to reduce cognitive load.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reflection and content warnings throughout.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handoff bridges training to on-the-job behavior.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07 / MODULE 1 (5 min)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 the learner and establish relevance before any content.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698480" cy="18288"/>
          </a:xfrm>
          <a:prstGeom prst="rect">
            <a:avLst/>
          </a:prstGeom>
          <a:solidFill>
            <a:srgbClr val="D9D2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do?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drops the learner into a tense customer interaction. They choose, see the outcome, then anticipate a better approach.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Trauma is common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infographic showing roughly 70% of U.S. adults have experienced at least one traumatic event.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VISUAL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and the brain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animated diagram showing the amygdala / prefrontal cortex shift during stress responses.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Customer Interactions  •  Joy Kim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08 / MODULE 2 (8 min)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Recognizing Trauma Responses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pattern recognition for the four stress responses.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698480" cy="18288"/>
          </a:xfrm>
          <a:prstGeom prst="rect">
            <a:avLst/>
          </a:prstGeom>
          <a:solidFill>
            <a:srgbClr val="D9D2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CARDS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Fight, Flight, Freeze, Fawn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the response, what it sounds like from a customer, and how it appears across phone, chat, email, and in-person channels.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Response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interaction. Learners match six customer quotes to the correct response type, with feedback per item.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in distress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narrated piece reframing 'difficult customer' as 'customer in distress' — a mindset shift that drives the rest of the course.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Customer Interactions  •  Joy Kim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09 / MODULE 3 (10 min)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Principles in Action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SAMHSA's framework from abstract to applied.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0698480" cy="18288"/>
          </a:xfrm>
          <a:prstGeom prst="rect">
            <a:avLst/>
          </a:prstGeom>
          <a:solidFill>
            <a:srgbClr val="D9D2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931920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438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3931920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438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Trustworthiness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09560" y="3931920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438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68680" y="5166360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5303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89120" y="5166360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5303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Empowerment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09560" y="5166360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92440" y="5303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92440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Humility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Customer Interactions  •  Joy Kim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 / MODULE 4 (8 min)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Empathetic Communication Lab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trauma-sensitive language asynchronously.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698480" cy="18288"/>
          </a:xfrm>
          <a:prstGeom prst="rect">
            <a:avLst/>
          </a:prstGeom>
          <a:solidFill>
            <a:srgbClr val="D9D2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vs. trauma-informed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examples with audio, so learners hear tone differences between the two registers.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the Response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reactive statements; learners select the trauma-informed rewrite. Feedback explains the reasoning behind each choice.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prompt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— 'Which of these phrases feels most unnatural for you to use, and why?' Saved for the learner. Not graded.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Customer Interactions  •  Joy Kim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11 / MODULE 5 (10 min)  •  THE CENTERPIECE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783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De-Escalation </a:t>
            </a:r>
            <a:pPr indent="0" marL="0">
              <a:buNone/>
            </a:pPr>
            <a:r>
              <a:rPr lang="en-US" sz="32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Branching Scenario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full framework under realistic pressure.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4480560"/>
            <a:ext cx="2011680" cy="91440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88920" y="47548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4480560"/>
            <a:ext cx="2011680" cy="91440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47548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4480560"/>
            <a:ext cx="2011680" cy="91440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86600" y="47548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23760" y="4480560"/>
            <a:ext cx="2011680" cy="91440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Options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47548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72600" y="4480560"/>
            <a:ext cx="2011680" cy="91440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5548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turns route to coaching feedback with a chance to retry. Scenario score contributes to module completion.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12 / MODULE 6 (4 min)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&amp; Continue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transfer to the job — the bridge from training to behavior.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698480" cy="18288"/>
          </a:xfrm>
          <a:prstGeom prst="rect">
            <a:avLst/>
          </a:prstGeom>
          <a:solidFill>
            <a:srgbClr val="D9D2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commitment card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types one specific behavior for their next shift. Downloadable as PDF or emailed to themselves.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Quick-reference library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SAMHSA, Trauma Informed Oregon, and an internal one-pager designed for the desk — not the LMS.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420624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4206240"/>
            <a:ext cx="3383280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follow-up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5349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button sends the commitment card to a supervisor for follow-up coaching conversations.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Customer Interactions  •  Joy Kim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13 / VISUAL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calm, consistent UI built for emotional safety.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neutrals + sage accent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9D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3383280"/>
            <a:ext cx="548640" cy="54864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D9D2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3383280"/>
            <a:ext cx="548640" cy="548640"/>
          </a:xfrm>
          <a:prstGeom prst="ellipse">
            <a:avLst/>
          </a:prstGeom>
          <a:solidFill>
            <a:srgbClr val="5A8B75"/>
          </a:solidFill>
          <a:ln w="12700">
            <a:solidFill>
              <a:srgbClr val="D9D2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3383280"/>
            <a:ext cx="548640" cy="548640"/>
          </a:xfrm>
          <a:prstGeom prst="ellipse">
            <a:avLst/>
          </a:prstGeom>
          <a:solidFill>
            <a:srgbClr val="455A64"/>
          </a:solidFill>
          <a:ln w="12700">
            <a:solidFill>
              <a:srgbClr val="D9D2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3383280"/>
            <a:ext cx="548640" cy="548640"/>
          </a:xfrm>
          <a:prstGeom prst="ellipse">
            <a:avLst/>
          </a:prstGeom>
          <a:solidFill>
            <a:srgbClr val="C97560"/>
          </a:solidFill>
          <a:ln w="12700">
            <a:solidFill>
              <a:srgbClr val="D9D2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Serif headings + readable body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3383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8521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/ Cambria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Cards, accordions, audio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412480" y="3383280"/>
            <a:ext cx="1554480" cy="45720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module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39776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443484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  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rationale.  </a:t>
            </a:r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and warm neutrals support the emotional weight of the topic. Type is large, legible, and consistent. Color is used to signal hierarchy, never to substitute for it.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14 / ACCESSIBILITY &amp; PSYCHOLOGICAL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from the start — not retrofitted.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everyone.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compliance throughout.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captions on all audio elements.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navigability.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labels on all interactions.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color-only feedback — always paired with text or icon.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emotional weight.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35661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warnings before sensitive sections.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reflection — never forced disclosure.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free-text prompts; learner-owned, not graded.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graphic content; scenarios are workplace-realistic, not retraumatizing.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with customer scenario, not learner's own trauma history.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15 / PORTFOLIO CASE STUDY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→ Approach → Decisions → Outcomes.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73152" cy="96012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workshop, not scalable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0" y="24231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frontline employees across shifts and locations needed training that couldn't be delivered live.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355848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355848"/>
            <a:ext cx="73152" cy="96012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216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Rebuilt as async with branching practice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03520" y="349300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the original outline to ADDIE; converted role-plays to branching scenarios; preserved cognitive practice.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25696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425696"/>
            <a:ext cx="73152" cy="96012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7914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 first, scenario-centered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0" y="456285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SAMHSA principles moved to Module 3 as a lens. Module 5 became the centerpiece. Safety designed in from the start.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495544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495544"/>
            <a:ext cx="73152" cy="96012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586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58613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+ behavior-supporting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03520" y="563270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all four Kirkpatrick levels. Commitment card and manager handoff drive transfer beyond completion.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16 / DELIVERABLES &amp;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ships, and when.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core artifacts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06908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977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57200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507492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983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 doc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5577840"/>
            <a:ext cx="228600" cy="2286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486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guide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to launch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566160"/>
            <a:ext cx="73152" cy="109728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•  2 WEEKS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→ Prototype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Storyboard, branching logic, design system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84632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846320"/>
            <a:ext cx="73152" cy="1097280"/>
          </a:xfrm>
          <a:prstGeom prst="rect">
            <a:avLst/>
          </a:prstGeom>
          <a:solidFill>
            <a:srgbClr val="C97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7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4–6 WEEKS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940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build, voiceover, QA, accessibility audit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84B59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17 / HANDOFF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</a:t>
            </a:r>
            <a:pPr indent="0" marL="0">
              <a:buNone/>
            </a:pPr>
            <a:r>
              <a:rPr lang="en-US" sz="42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</a:t>
            </a:r>
            <a:pPr indent="0" marL="0">
              <a:buNone/>
            </a:pPr>
            <a:r>
              <a:rPr lang="en-US" sz="4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deliver to the dev/build team.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338328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33756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017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Voiceover script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3017520"/>
            <a:ext cx="338328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333756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3017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Branching logic doc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0" y="3017520"/>
            <a:ext cx="338328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33756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23960" y="3017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test plan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297680"/>
            <a:ext cx="338328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61772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91640" y="4297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assets package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89120" y="4297680"/>
            <a:ext cx="338328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61772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57800" y="4297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test steps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955280" y="4297680"/>
            <a:ext cx="338328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461772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823960" y="4297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group recommendation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5852160"/>
            <a:ext cx="10698480" cy="18288"/>
          </a:xfrm>
          <a:prstGeom prst="rect">
            <a:avLst/>
          </a:prstGeom>
          <a:solidFill>
            <a:srgbClr val="84B59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Joy Kim  •  Instructional Designer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Trauma-Informed Customer Interactions</dc:title>
  <dc:subject>PptxGenJS Presentation</dc:subject>
  <dc:creator>Joy Kim</dc:creator>
  <cp:lastModifiedBy>Joy Kim</cp:lastModifiedBy>
  <cp:revision>1</cp:revision>
  <dcterms:created xsi:type="dcterms:W3CDTF">2026-05-15T20:39:14Z</dcterms:created>
  <dcterms:modified xsi:type="dcterms:W3CDTF">2026-05-15T20:39:14Z</dcterms:modified>
</cp:coreProperties>
</file>